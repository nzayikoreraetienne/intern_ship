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-989" y="-6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ECE84-A8EE-4DB8-ACFD-1F55B021D13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3059-E466-4715-A355-89A0F8D02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23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ECE84-A8EE-4DB8-ACFD-1F55B021D13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3059-E466-4715-A355-89A0F8D02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67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ECE84-A8EE-4DB8-ACFD-1F55B021D13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3059-E466-4715-A355-89A0F8D02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78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ECE84-A8EE-4DB8-ACFD-1F55B021D13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3059-E466-4715-A355-89A0F8D02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76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ECE84-A8EE-4DB8-ACFD-1F55B021D13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3059-E466-4715-A355-89A0F8D02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21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ECE84-A8EE-4DB8-ACFD-1F55B021D13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3059-E466-4715-A355-89A0F8D02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1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ECE84-A8EE-4DB8-ACFD-1F55B021D13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3059-E466-4715-A355-89A0F8D02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567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ECE84-A8EE-4DB8-ACFD-1F55B021D13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3059-E466-4715-A355-89A0F8D02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13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ECE84-A8EE-4DB8-ACFD-1F55B021D13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3059-E466-4715-A355-89A0F8D02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ECE84-A8EE-4DB8-ACFD-1F55B021D13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3059-E466-4715-A355-89A0F8D02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656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ECE84-A8EE-4DB8-ACFD-1F55B021D13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3059-E466-4715-A355-89A0F8D02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669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ECE84-A8EE-4DB8-ACFD-1F55B021D13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03059-E466-4715-A355-89A0F8D02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4726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9642" y="-515187"/>
            <a:ext cx="9877168" cy="3221639"/>
          </a:xfrm>
        </p:spPr>
        <p:txBody>
          <a:bodyPr/>
          <a:lstStyle/>
          <a:p>
            <a:r>
              <a:rPr lang="en-US" sz="2800" b="1" u="sng" dirty="0" smtClean="0">
                <a:latin typeface="Algerian" panose="04020705040A02060702" pitchFamily="82" charset="0"/>
              </a:rPr>
              <a:t>Group 15</a:t>
            </a:r>
            <a:r>
              <a:rPr lang="en-US" sz="2800" dirty="0" smtClean="0">
                <a:latin typeface="Algerian" panose="04020705040A02060702" pitchFamily="82" charset="0"/>
              </a:rPr>
              <a:t/>
            </a:r>
            <a:br>
              <a:rPr lang="en-US" sz="2800" dirty="0" smtClean="0">
                <a:latin typeface="Algerian" panose="04020705040A02060702" pitchFamily="82" charset="0"/>
              </a:rPr>
            </a:br>
            <a:r>
              <a:rPr lang="en-US" sz="2800" dirty="0" smtClean="0">
                <a:latin typeface="Algerian" panose="04020705040A02060702" pitchFamily="82" charset="0"/>
              </a:rPr>
              <a:t>Names: </a:t>
            </a:r>
            <a:r>
              <a:rPr lang="en-US" sz="2400" b="1" u="sng" dirty="0" err="1" smtClean="0">
                <a:solidFill>
                  <a:srgbClr val="FFC000"/>
                </a:solidFill>
                <a:latin typeface="Algerian" panose="04020705040A02060702" pitchFamily="82" charset="0"/>
              </a:rPr>
              <a:t>nzayikorera</a:t>
            </a:r>
            <a:r>
              <a:rPr lang="en-US" sz="2400" b="1" u="sng" dirty="0" smtClean="0">
                <a:solidFill>
                  <a:srgbClr val="FFC000"/>
                </a:solidFill>
                <a:latin typeface="Algerian" panose="04020705040A02060702" pitchFamily="82" charset="0"/>
              </a:rPr>
              <a:t> Etienne</a:t>
            </a:r>
            <a:br>
              <a:rPr lang="en-US" sz="2400" b="1" u="sng" dirty="0" smtClean="0">
                <a:solidFill>
                  <a:srgbClr val="FFC000"/>
                </a:solidFill>
                <a:latin typeface="Algerian" panose="04020705040A02060702" pitchFamily="82" charset="0"/>
              </a:rPr>
            </a:br>
            <a:r>
              <a:rPr lang="en-US" sz="2400" b="1" u="sng" dirty="0" smtClean="0">
                <a:solidFill>
                  <a:srgbClr val="FFC000"/>
                </a:solidFill>
                <a:latin typeface="Algerian" panose="04020705040A02060702" pitchFamily="82" charset="0"/>
              </a:rPr>
              <a:t>.</a:t>
            </a:r>
            <a:r>
              <a:rPr lang="en-US" sz="2400" b="1" u="sng" dirty="0" err="1" smtClean="0">
                <a:solidFill>
                  <a:srgbClr val="FFC000"/>
                </a:solidFill>
                <a:latin typeface="Algerian" panose="04020705040A02060702" pitchFamily="82" charset="0"/>
              </a:rPr>
              <a:t>niyonsenga</a:t>
            </a:r>
            <a:r>
              <a:rPr lang="en-US" sz="2400" b="1" u="sng" dirty="0" smtClean="0">
                <a:solidFill>
                  <a:srgbClr val="FFC000"/>
                </a:solidFill>
                <a:latin typeface="Algerian" panose="04020705040A02060702" pitchFamily="82" charset="0"/>
              </a:rPr>
              <a:t> </a:t>
            </a:r>
            <a:r>
              <a:rPr lang="en-US" sz="2400" b="1" u="sng" dirty="0" err="1" smtClean="0">
                <a:solidFill>
                  <a:srgbClr val="FFC000"/>
                </a:solidFill>
                <a:latin typeface="Algerian" panose="04020705040A02060702" pitchFamily="82" charset="0"/>
              </a:rPr>
              <a:t>eric</a:t>
            </a:r>
            <a:r>
              <a:rPr lang="en-US" sz="2400" b="1" u="sng" dirty="0" smtClean="0">
                <a:solidFill>
                  <a:srgbClr val="FFC000"/>
                </a:solidFill>
                <a:latin typeface="Algerian" panose="04020705040A02060702" pitchFamily="82" charset="0"/>
              </a:rPr>
              <a:t/>
            </a:r>
            <a:br>
              <a:rPr lang="en-US" sz="2400" b="1" u="sng" dirty="0" smtClean="0">
                <a:solidFill>
                  <a:srgbClr val="FFC000"/>
                </a:solidFill>
                <a:latin typeface="Algerian" panose="04020705040A02060702" pitchFamily="82" charset="0"/>
              </a:rPr>
            </a:br>
            <a:r>
              <a:rPr lang="en-US" sz="2400" b="1" u="sng" dirty="0" err="1" smtClean="0">
                <a:solidFill>
                  <a:srgbClr val="FFC000"/>
                </a:solidFill>
                <a:latin typeface="Algerian" panose="04020705040A02060702" pitchFamily="82" charset="0"/>
              </a:rPr>
              <a:t>habarurema</a:t>
            </a:r>
            <a:r>
              <a:rPr lang="en-US" sz="2400" b="1" u="sng" dirty="0" smtClean="0">
                <a:solidFill>
                  <a:srgbClr val="FFC000"/>
                </a:solidFill>
                <a:latin typeface="Algerian" panose="04020705040A02060702" pitchFamily="82" charset="0"/>
              </a:rPr>
              <a:t> </a:t>
            </a:r>
            <a:r>
              <a:rPr lang="en-US" sz="2400" b="1" u="sng" dirty="0" err="1" smtClean="0">
                <a:solidFill>
                  <a:srgbClr val="FFC000"/>
                </a:solidFill>
                <a:latin typeface="Algerian" panose="04020705040A02060702" pitchFamily="82" charset="0"/>
              </a:rPr>
              <a:t>ishimwe</a:t>
            </a:r>
            <a:r>
              <a:rPr lang="en-US" sz="2400" b="1" u="sng" smtClean="0">
                <a:solidFill>
                  <a:srgbClr val="FFC000"/>
                </a:solidFill>
                <a:latin typeface="Algerian" panose="04020705040A02060702" pitchFamily="82" charset="0"/>
              </a:rPr>
              <a:t> clement</a:t>
            </a:r>
            <a:r>
              <a:rPr lang="en-US" sz="2400" b="1" u="sng" dirty="0" smtClean="0">
                <a:solidFill>
                  <a:srgbClr val="FFC000"/>
                </a:solidFill>
                <a:latin typeface="Algerian" panose="04020705040A02060702" pitchFamily="82" charset="0"/>
              </a:rPr>
              <a:t/>
            </a:r>
            <a:br>
              <a:rPr lang="en-US" sz="2400" b="1" u="sng" dirty="0" smtClean="0">
                <a:solidFill>
                  <a:srgbClr val="FFC000"/>
                </a:solidFill>
                <a:latin typeface="Algerian" panose="04020705040A02060702" pitchFamily="82" charset="0"/>
              </a:rPr>
            </a:br>
            <a:r>
              <a:rPr lang="en-US" sz="2400" dirty="0" smtClean="0">
                <a:latin typeface="Algerian" panose="04020705040A02060702" pitchFamily="82" charset="0"/>
              </a:rPr>
              <a:t/>
            </a:r>
            <a:br>
              <a:rPr lang="en-US" sz="2400" dirty="0" smtClean="0">
                <a:latin typeface="Algerian" panose="04020705040A02060702" pitchFamily="82" charset="0"/>
              </a:rPr>
            </a:br>
            <a:r>
              <a:rPr lang="en-US" sz="3200" b="1" u="sng" dirty="0" smtClean="0">
                <a:latin typeface="Algerian" panose="04020705040A02060702" pitchFamily="82" charset="0"/>
              </a:rPr>
              <a:t>Correction of assignment</a:t>
            </a:r>
            <a:endParaRPr lang="en-US" sz="3200" b="1" u="sng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745" y="3041866"/>
            <a:ext cx="11261125" cy="4924124"/>
          </a:xfrm>
        </p:spPr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1. Game Concept: "Signal Decay"</a:t>
            </a:r>
          </a:p>
          <a:p>
            <a:endParaRPr lang="en-US" dirty="0"/>
          </a:p>
          <a:p>
            <a:r>
              <a:rPr lang="en-US" b="1" u="sng" dirty="0">
                <a:solidFill>
                  <a:schemeClr val="accent1"/>
                </a:solidFill>
              </a:rPr>
              <a:t>Genre: Precision Runner / Rhythm-Lite</a:t>
            </a:r>
          </a:p>
          <a:p>
            <a:r>
              <a:rPr lang="en-US" dirty="0">
                <a:latin typeface="Bahnschrift Light Condensed" panose="020B0502040204020203" pitchFamily="34" charset="0"/>
              </a:rPr>
              <a:t>Core Gameplay Loop:</a:t>
            </a:r>
          </a:p>
          <a:p>
            <a:r>
              <a:rPr lang="en-US" dirty="0">
                <a:latin typeface="Bahnschrift Light Condensed" panose="020B0502040204020203" pitchFamily="34" charset="0"/>
              </a:rPr>
              <a:t>1. Accelerate: Travel through fiber-optic stretches to maintain speed.</a:t>
            </a:r>
          </a:p>
          <a:p>
            <a:r>
              <a:rPr lang="en-US" dirty="0">
                <a:latin typeface="Bahnschrift Light Condensed" panose="020B0502040204020203" pitchFamily="34" charset="0"/>
              </a:rPr>
              <a:t>2. Frequency Shift: Toggle colors to pass through matching data gates.</a:t>
            </a:r>
          </a:p>
          <a:p>
            <a:r>
              <a:rPr lang="en-US" dirty="0">
                <a:latin typeface="Bahnschrift Light Condensed" panose="020B0502040204020203" pitchFamily="34" charset="0"/>
              </a:rPr>
              <a:t>3. Data Collection: Absorb "Refresher Packets" to prevent signal flicker.</a:t>
            </a:r>
          </a:p>
        </p:txBody>
      </p:sp>
    </p:spTree>
    <p:extLst>
      <p:ext uri="{BB962C8B-B14F-4D97-AF65-F5344CB8AC3E}">
        <p14:creationId xmlns:p14="http://schemas.microsoft.com/office/powerpoint/2010/main" val="1946776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325"/>
            <a:ext cx="10515600" cy="1325563"/>
          </a:xfrm>
        </p:spPr>
        <p:txBody>
          <a:bodyPr/>
          <a:lstStyle/>
          <a:p>
            <a:r>
              <a:rPr lang="en-US" u="sng" dirty="0" smtClean="0">
                <a:solidFill>
                  <a:schemeClr val="accent1"/>
                </a:solidFill>
                <a:latin typeface="Algerian" panose="04020705040A02060702" pitchFamily="82" charset="0"/>
              </a:rPr>
              <a:t>2.Narrative strategy</a:t>
            </a:r>
            <a:endParaRPr lang="en-US" u="sng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6641"/>
            <a:ext cx="10515600" cy="493764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Bahnschrift SemiBold" panose="020B0502040204020203" pitchFamily="34" charset="0"/>
              </a:rPr>
              <a:t>Protagonist</a:t>
            </a:r>
            <a:r>
              <a:rPr lang="en-US" sz="2400" dirty="0">
                <a:latin typeface="Bahnschrift SemiBold" panose="020B0502040204020203" pitchFamily="34" charset="0"/>
              </a:rPr>
              <a:t>: Fragment-7, a high-priority data packet carrying a critical "Genesis</a:t>
            </a:r>
          </a:p>
          <a:p>
            <a:r>
              <a:rPr lang="en-US" sz="2400" dirty="0">
                <a:latin typeface="Bahnschrift SemiBold" panose="020B0502040204020203" pitchFamily="34" charset="0"/>
              </a:rPr>
              <a:t>Pulse" code.</a:t>
            </a:r>
          </a:p>
          <a:p>
            <a:r>
              <a:rPr lang="en-US" sz="2400" dirty="0">
                <a:latin typeface="Bahnschrift SemiBold" panose="020B0502040204020203" pitchFamily="34" charset="0"/>
              </a:rPr>
              <a:t>Setting: The Abyssal Sub-Net. A decaying, neon-lit undersea trans-</a:t>
            </a:r>
            <a:r>
              <a:rPr lang="en-US" sz="2400" dirty="0" err="1">
                <a:latin typeface="Bahnschrift SemiBold" panose="020B0502040204020203" pitchFamily="34" charset="0"/>
              </a:rPr>
              <a:t>atlantic</a:t>
            </a:r>
            <a:r>
              <a:rPr lang="en-US" sz="2400" dirty="0">
                <a:latin typeface="Bahnschrift SemiBold" panose="020B0502040204020203" pitchFamily="34" charset="0"/>
              </a:rPr>
              <a:t> cable</a:t>
            </a:r>
          </a:p>
          <a:p>
            <a:r>
              <a:rPr lang="en-US" sz="2400" dirty="0">
                <a:latin typeface="Bahnschrift SemiBold" panose="020B0502040204020203" pitchFamily="34" charset="0"/>
              </a:rPr>
              <a:t>filled with "Static Leaks" and hardware degradation.</a:t>
            </a:r>
          </a:p>
          <a:p>
            <a:r>
              <a:rPr lang="en-US" sz="2400" dirty="0">
                <a:latin typeface="Bahnschrift SemiBold" panose="020B0502040204020203" pitchFamily="34" charset="0"/>
              </a:rPr>
              <a:t>Main Objective: Reach the "Handshaking Terminal" on the opposite shore to reboot</a:t>
            </a:r>
          </a:p>
          <a:p>
            <a:r>
              <a:rPr lang="en-US" sz="2400" dirty="0">
                <a:latin typeface="Bahnschrift SemiBold" panose="020B0502040204020203" pitchFamily="34" charset="0"/>
              </a:rPr>
              <a:t>the global climate-control grid and stop catastrophic storms.</a:t>
            </a:r>
          </a:p>
          <a:p>
            <a:r>
              <a:rPr lang="en-US" sz="2400" dirty="0">
                <a:latin typeface="Bahnschrift SemiBold" panose="020B0502040204020203" pitchFamily="34" charset="0"/>
              </a:rPr>
              <a:t>Primary Conflict: The Entropic Void—a wall of corruption chasing the player—and</a:t>
            </a:r>
          </a:p>
          <a:p>
            <a:r>
              <a:rPr lang="en-US" sz="2400" dirty="0">
                <a:latin typeface="Bahnschrift SemiBold" panose="020B0502040204020203" pitchFamily="34" charset="0"/>
              </a:rPr>
              <a:t>physical fractures in the cable that slow the signal down.</a:t>
            </a:r>
          </a:p>
        </p:txBody>
      </p:sp>
    </p:spTree>
    <p:extLst>
      <p:ext uri="{BB962C8B-B14F-4D97-AF65-F5344CB8AC3E}">
        <p14:creationId xmlns:p14="http://schemas.microsoft.com/office/powerpoint/2010/main" val="3669007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  <a:latin typeface="Algerian" panose="04020705040A02060702" pitchFamily="82" charset="0"/>
              </a:rPr>
              <a:t>3. Peer Feedback &amp; Refinement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Bahnschrift Condensed" panose="020B0502040204020203" pitchFamily="34" charset="0"/>
              </a:rPr>
              <a:t>Initial Feedback: "The motivation is a bit dry. Delivering a generic encryption key</a:t>
            </a:r>
          </a:p>
          <a:p>
            <a:pPr marL="0" indent="0">
              <a:buNone/>
            </a:pPr>
            <a:r>
              <a:rPr lang="en-US" dirty="0">
                <a:latin typeface="Bahnschrift Condensed" panose="020B0502040204020203" pitchFamily="34" charset="0"/>
              </a:rPr>
              <a:t>doesn't feel urgent enough for the player to feel invested."</a:t>
            </a:r>
          </a:p>
          <a:p>
            <a:pPr marL="0" indent="0">
              <a:buNone/>
            </a:pPr>
            <a:r>
              <a:rPr lang="en-US" dirty="0">
                <a:latin typeface="Bahnschrift Condensed" panose="020B0502040204020203" pitchFamily="34" charset="0"/>
              </a:rPr>
              <a:t>Refined Adjustment: The objective was changed from a generic "key" to the</a:t>
            </a:r>
          </a:p>
          <a:p>
            <a:pPr marL="0" indent="0">
              <a:buNone/>
            </a:pPr>
            <a:endParaRPr lang="en-US" dirty="0">
              <a:latin typeface="Bahnschrift Condensed" panose="020B0502040204020203" pitchFamily="34" charset="0"/>
            </a:endParaRPr>
          </a:p>
          <a:p>
            <a:pPr marL="0" indent="0">
              <a:buNone/>
            </a:pPr>
            <a:r>
              <a:rPr lang="en-US" dirty="0">
                <a:latin typeface="Bahnschrift Condensed" panose="020B0502040204020203" pitchFamily="34" charset="0"/>
              </a:rPr>
              <a:t>"Genesis Pulse." The stakes were raised from a technical data transfer to a world-</a:t>
            </a:r>
          </a:p>
          <a:p>
            <a:pPr marL="0" indent="0">
              <a:buNone/>
            </a:pPr>
            <a:r>
              <a:rPr lang="en-US" dirty="0">
                <a:latin typeface="Bahnschrift Condensed" panose="020B0502040204020203" pitchFamily="34" charset="0"/>
              </a:rPr>
              <a:t>saving mission involving the global environment, giving the player's survival</a:t>
            </a:r>
          </a:p>
          <a:p>
            <a:pPr marL="0" indent="0">
              <a:buNone/>
            </a:pPr>
            <a:endParaRPr lang="en-US" dirty="0">
              <a:latin typeface="Bahnschrift Condensed" panose="020B0502040204020203" pitchFamily="34" charset="0"/>
            </a:endParaRPr>
          </a:p>
          <a:p>
            <a:pPr marL="0" indent="0">
              <a:buNone/>
            </a:pPr>
            <a:r>
              <a:rPr lang="en-US" dirty="0">
                <a:latin typeface="Bahnschrift Condensed" panose="020B0502040204020203" pitchFamily="34" charset="0"/>
              </a:rPr>
              <a:t>immediate moral weight.</a:t>
            </a:r>
          </a:p>
        </p:txBody>
      </p:sp>
    </p:spTree>
    <p:extLst>
      <p:ext uri="{BB962C8B-B14F-4D97-AF65-F5344CB8AC3E}">
        <p14:creationId xmlns:p14="http://schemas.microsoft.com/office/powerpoint/2010/main" val="215976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230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Algerian</vt:lpstr>
      <vt:lpstr>Arial</vt:lpstr>
      <vt:lpstr>Bahnschrift Condensed</vt:lpstr>
      <vt:lpstr>Bahnschrift Light Condensed</vt:lpstr>
      <vt:lpstr>Bahnschrift SemiBold</vt:lpstr>
      <vt:lpstr>Calibri</vt:lpstr>
      <vt:lpstr>Calibri Light</vt:lpstr>
      <vt:lpstr>Office Theme</vt:lpstr>
      <vt:lpstr>Group 15 Names: nzayikorera Etienne .niyonsenga eric habarurema ishimwe clement  Correction of assignment</vt:lpstr>
      <vt:lpstr>2.Narrative strategy</vt:lpstr>
      <vt:lpstr>3. Peer Feedback &amp; Refinement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Names: nzayikorera Etienne Correction of assignment</dc:title>
  <dc:creator>hp</dc:creator>
  <cp:lastModifiedBy>hp</cp:lastModifiedBy>
  <cp:revision>4</cp:revision>
  <dcterms:created xsi:type="dcterms:W3CDTF">2026-05-06T15:56:59Z</dcterms:created>
  <dcterms:modified xsi:type="dcterms:W3CDTF">2026-05-07T13:07:59Z</dcterms:modified>
</cp:coreProperties>
</file>